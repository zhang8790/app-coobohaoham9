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420000">
            <a:off x="868680" y="2011680"/>
            <a:ext cx="1051560" cy="105156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7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来电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有喜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148840"/>
            <a:ext cx="8686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7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来电·有喜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37033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本地生活的情绪经济平台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4389120"/>
            <a:ext cx="4023360" cy="502920"/>
          </a:xfrm>
          <a:prstGeom prst="roundRect">
            <a:avLst/>
          </a:prstGeom>
          <a:solidFill>
            <a:srgbClr val="FFEDE3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444398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融资介绍 · INVESTOR DECK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78350F"/>
                </a:solidFill>
                <a:latin typeface="Microsoft YaHei"/>
                <a:ea typeface="Microsoft YaHei"/>
                <a:cs typeface="Microsoft YaHei"/>
              </a:rPr>
              <a:t>把「人与消费之间的情绪连接」数字化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武侠 × 朱砂 · 情绪编译引擎 V5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本场，我们讲五件事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8288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933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99339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被忽视的事实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为什么本地生活需要被重做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933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99339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三大数字化引擎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编译 · 导购 · 确权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2004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364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39" y="336499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增长飞轮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双货币 · 段位分销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2004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3649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36499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差异化与数字化思维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我们凭什么不同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720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365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39" y="473659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融资需求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为什么是现在 · 要什么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4572000"/>
            <a:ext cx="5120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736592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4736592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一页纸 BP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核心信息速览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THE BLIND SPOT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所有本地生活平台，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8A8178"/>
                </a:solidFill>
                <a:latin typeface="KaiTi"/>
                <a:ea typeface="KaiTi"/>
                <a:cs typeface="KaiTi"/>
              </a:rPr>
              <a:t>都在数字化「货」和「交易」——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却没人数字化「情绪」。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8056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但情绪，才是消费的第一性原理：人先有情绪，才有消费。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这是最后一片还没被规模化的消费决策维度。</a:t>
            </a:r>
          </a:p>
        </p:txBody>
      </p:sp>
      <p:sp>
        <p:nvSpPr>
          <p:cNvPr id="9" name="Rounded Rectangle 8"/>
          <p:cNvSpPr/>
          <p:nvPr/>
        </p:nvSpPr>
        <p:spPr>
          <a:xfrm rot="21420000">
            <a:off x="10607040" y="5394960"/>
            <a:ext cx="548640" cy="54864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POSITIONING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我们是谁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120640" cy="2286000"/>
          </a:xfrm>
          <a:prstGeom prst="roundRect">
            <a:avLst/>
          </a:prstGeom>
          <a:solidFill>
            <a:srgbClr val="FFEDE3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一句话定位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数字化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人与消费之间的情绪连接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愿景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让每一次本地消费，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都成为被接住的情绪片刻。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不是又一个团购平台，而是一套把「情绪价值」做成可标准化、可量化生产的引擎。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ENGINE 01 · 供给侧壁垒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情绪编译引擎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把「会写情绪文案」的天赋，变成流水线。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五维打标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03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商家给商品打功能/场景/情绪/身份/感官标签，系统智能推荐</a:t>
            </a:r>
          </a:p>
        </p:txBody>
      </p:sp>
      <p:sp>
        <p:nvSpPr>
          <p:cNvPr id="13" name="Chevron 12"/>
          <p:cNvSpPr/>
          <p:nvPr/>
        </p:nvSpPr>
        <p:spPr>
          <a:xfrm>
            <a:off x="4114800" y="3383280"/>
            <a:ext cx="320040" cy="365760"/>
          </a:xfrm>
          <a:prstGeom prst="chevron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246888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697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一键编译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03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三阶段翻译引擎生成情绪叙事：场景问句→状态确认→身份确认</a:t>
            </a:r>
          </a:p>
        </p:txBody>
      </p:sp>
      <p:sp>
        <p:nvSpPr>
          <p:cNvPr id="18" name="Chevron 17"/>
          <p:cNvSpPr/>
          <p:nvPr/>
        </p:nvSpPr>
        <p:spPr>
          <a:xfrm>
            <a:off x="7726680" y="3383280"/>
            <a:ext cx="320040" cy="365760"/>
          </a:xfrm>
          <a:prstGeom prst="chevron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2440" y="2468880"/>
            <a:ext cx="32004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697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质量评分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703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100 分制实时评分，决定进推荐池还是仅店铺展示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937760"/>
            <a:ext cx="868680" cy="868680"/>
          </a:xfrm>
          <a:prstGeom prst="ellipse">
            <a:avLst/>
          </a:prstGeom>
          <a:solidFill>
            <a:srgbClr val="FFFFFF"/>
          </a:solidFill>
          <a:ln w="444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  <a:p>
            <a:pPr algn="ctr"/>
            <a:r>
              <a:rPr sz="90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分制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02920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标签完整度 30    文案合规性 30    场景精准度 20    确权可达性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ENGINE 02 · 需求侧差异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情绪导购：从「人找货」到「情绪找货」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用户不搜关键词，而是说出感受——系统识别情绪，推荐场景与就近好物。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560320"/>
            <a:ext cx="1691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34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A8B5C0"/>
                </a:solidFill>
                <a:latin typeface="Microsoft YaHei"/>
                <a:ea typeface="Microsoft YaHei"/>
                <a:cs typeface="Microsoft YaHei"/>
              </a:rPr>
              <a:t>耗竭态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累·透支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2" y="2560320"/>
            <a:ext cx="1691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2834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2" y="3703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0C8D4"/>
                </a:solidFill>
                <a:latin typeface="Microsoft YaHei"/>
                <a:ea typeface="Microsoft YaHei"/>
                <a:cs typeface="Microsoft YaHei"/>
              </a:rPr>
              <a:t>孤独态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一个人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81144" y="2560320"/>
            <a:ext cx="1691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834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703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59A2E"/>
                </a:solidFill>
                <a:latin typeface="Microsoft YaHei"/>
                <a:ea typeface="Microsoft YaHei"/>
                <a:cs typeface="Microsoft YaHei"/>
              </a:rPr>
              <a:t>表达驱动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想分享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7376" y="2560320"/>
            <a:ext cx="1691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2834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703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8A7D63"/>
                </a:solidFill>
                <a:latin typeface="Microsoft YaHei"/>
                <a:ea typeface="Microsoft YaHei"/>
                <a:cs typeface="Microsoft YaHei"/>
              </a:rPr>
              <a:t>平稳态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松弛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93608" y="2560320"/>
            <a:ext cx="1691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834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703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B08C4A"/>
                </a:solidFill>
                <a:latin typeface="Microsoft YaHei"/>
                <a:ea typeface="Microsoft YaHei"/>
                <a:cs typeface="Microsoft YaHei"/>
              </a:rPr>
              <a:t>怀念态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想从前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2560320"/>
            <a:ext cx="1691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834639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49840" y="37033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5B7AA8"/>
                </a:solidFill>
                <a:latin typeface="Microsoft YaHei"/>
                <a:ea typeface="Microsoft YaHei"/>
                <a:cs typeface="Microsoft YaHei"/>
              </a:rPr>
              <a:t>渴望态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420624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想要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说感受 → 识别 6 大情绪态 → 场景卡片 + 附近 Feed 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ENGINE 03 · 闭环飞轮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消费即确权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消费结束，关系才开始——用户从过客，变成平台共建者。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2468880" cy="1280160"/>
          </a:xfrm>
          <a:prstGeom prst="roundRect">
            <a:avLst/>
          </a:prstGeom>
          <a:solidFill>
            <a:srgbClr val="C2410C"/>
          </a:solidFill>
          <a:ln w="1270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支付成功</a:t>
            </a:r>
          </a:p>
          <a:p>
            <a:pPr algn="ctr"/>
            <a:r>
              <a:rPr sz="1100">
                <a:solidFill>
                  <a:srgbClr val="FFEDE3"/>
                </a:solidFill>
                <a:latin typeface="Microsoft YaHei"/>
                <a:ea typeface="Microsoft YaHei"/>
                <a:cs typeface="Microsoft YaHei"/>
              </a:rPr>
              <a:t>交易完成</a:t>
            </a:r>
          </a:p>
        </p:txBody>
      </p:sp>
      <p:sp>
        <p:nvSpPr>
          <p:cNvPr id="10" name="Chevron 9"/>
          <p:cNvSpPr/>
          <p:nvPr/>
        </p:nvSpPr>
        <p:spPr>
          <a:xfrm>
            <a:off x="3355848" y="3108960"/>
            <a:ext cx="274320" cy="365760"/>
          </a:xfrm>
          <a:prstGeom prst="chevron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0" y="265176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情绪确权</a:t>
            </a:r>
          </a:p>
          <a:p>
            <a:pPr algn="ctr"/>
            <a:r>
              <a:rPr sz="110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选 1–6 情绪</a:t>
            </a:r>
          </a:p>
        </p:txBody>
      </p:sp>
      <p:sp>
        <p:nvSpPr>
          <p:cNvPr id="12" name="Chevron 11"/>
          <p:cNvSpPr/>
          <p:nvPr/>
        </p:nvSpPr>
        <p:spPr>
          <a:xfrm>
            <a:off x="6144768" y="3108960"/>
            <a:ext cx="274320" cy="365760"/>
          </a:xfrm>
          <a:prstGeom prst="chevron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65176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情绪豆 + 贡献值</a:t>
            </a:r>
          </a:p>
          <a:p>
            <a:pPr algn="ctr"/>
            <a:r>
              <a:rPr sz="110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CV 沉淀</a:t>
            </a:r>
          </a:p>
        </p:txBody>
      </p:sp>
      <p:sp>
        <p:nvSpPr>
          <p:cNvPr id="14" name="Chevron 13"/>
          <p:cNvSpPr/>
          <p:nvPr/>
        </p:nvSpPr>
        <p:spPr>
          <a:xfrm>
            <a:off x="8933688" y="3108960"/>
            <a:ext cx="274320" cy="365760"/>
          </a:xfrm>
          <a:prstGeom prst="chevron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235440" y="2651760"/>
            <a:ext cx="24688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成长反哺</a:t>
            </a:r>
          </a:p>
          <a:p>
            <a:pPr algn="ctr"/>
            <a:r>
              <a:rPr sz="110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分红·徽章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89120"/>
            <a:ext cx="104241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72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确权把单次交易变成长期关系资产：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用户为积累贡献值而复购、分享（带邀请码锁客）、拉新——留存与裂变内生于产品机制，而非靠外部补贴。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GROWTH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增长飞轮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双货币模型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566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金豆锚定人民币（1:1，真源，可消费/提现）；情绪豆作激励层，不涉资金池风险。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526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资产清晰 · 合规可控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01168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⚔️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段位二级分销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66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江湖散修→掌门；L1 佣金 15%–28%、L2 6%–16%，段位越高比例越大、永久生效。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526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分享即锁客 · 永久绑定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2011680"/>
            <a:ext cx="338328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2860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🛡️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0175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完备风控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566160"/>
            <a:ext cx="2834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活跃门槛、退款回扣、连续未拓新衰减、严禁刷单——不是资金盘，是合规推广分润。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526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可持续 · 抗泡沫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394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情绪共鸣自然分享 → 锁客降获客成本 → 确权提 LTV → 段位放大分销 → 更多内容进推荐池 → 体验更好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WHY DIFFERENT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我们 vs 传统本地生活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1206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传统平台（美团 / 点评 / 抖音团购）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43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心智：去哪吃玩更便宜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中心：货（SKU、价格）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发现：关键词搜索 / 低价推荐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用户：过客、价格敏感者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留存：补贴、红包、折扣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57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增长：买量、地推、补贴战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5120640" cy="3931920"/>
          </a:xfrm>
          <a:prstGeom prst="roundRect">
            <a:avLst/>
          </a:prstGeom>
          <a:solidFill>
            <a:srgbClr val="FFEDE3"/>
          </a:solidFill>
          <a:ln w="19050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来电有喜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43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心智：此刻我需要被照顾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2461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中心：人（情绪、身份）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39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发现：表达情绪 → 场景推荐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51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用户：侠客（段位、贡献、共建）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54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留存：确权资产、成长反哺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578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增长：情绪共鸣自然裂变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DIGITAL THINKING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把情绪，变成数据资产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011680"/>
          <a:ext cx="104241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383280"/>
                <a:gridCol w="3383280"/>
              </a:tblGrid>
              <a:tr h="52251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主观模糊的东西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我们的数字化动作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产出（数据资产）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“这商品很有氛围感”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五维标签打标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结构化标签库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“文案写得好有情绪”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三阶段编译引擎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标准化情绪叙事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“这条内容质量不错”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分质量评分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可质控的推荐池准入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“我此刻不知道想要啥”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态情绪识别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情绪→场景→货匹配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“我对这单挺满意”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消费即确权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情绪豆 + 贡献值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“平台跟我有关”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C191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成长占比 + 分红估算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241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用户共建关系量化</a:t>
                      </a:r>
                    </a:p>
                  </a:txBody>
                  <a:tcPr anchor="ctr">
                    <a:solidFill>
                      <a:srgbClr val="FFEDE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别人数字化「货」和「交易」，我们数字化「人和货之间的情绪连接」。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THE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950976"/>
            <a:ext cx="457200" cy="3175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为什么是现在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11680"/>
            <a:ext cx="585216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本轮资金用途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• 城市复制 — 把单城模型跑成多城网络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493008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• 引擎算法深化 — 情绪识别与编译的精度与自动化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51376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• 品牌势能 — 武侠人格化心智的规模化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09744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• 供给侧拓展 — 商家情绪编译工作台渗透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011680"/>
            <a:ext cx="4389120" cy="3657600"/>
          </a:xfrm>
          <a:prstGeom prst="roundRect">
            <a:avLst/>
          </a:prstGeom>
          <a:solidFill>
            <a:srgbClr val="FFEDE3"/>
          </a:solidFill>
          <a:ln w="12700">
            <a:solidFill>
              <a:srgbClr val="E7DD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286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本轮融资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74320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¥____ 万 / 轮次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402336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里程碑：V5 已上线 · B/C/治理三端完整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C1917"/>
                </a:solidFill>
                <a:latin typeface="Microsoft YaHei"/>
                <a:ea typeface="Microsoft YaHei"/>
                <a:cs typeface="Microsoft YaHei"/>
              </a:rPr>
              <a:t>目标：__ 城 · __ 商家 · __ 月活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* 金额与里程碑为占位，按实际数据填充。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502920"/>
            <a:ext cx="502920" cy="25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384048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6" name="Rounded Rectangle 5"/>
          <p:cNvSpPr/>
          <p:nvPr/>
        </p:nvSpPr>
        <p:spPr>
          <a:xfrm rot="21420000">
            <a:off x="868680" y="1463040"/>
            <a:ext cx="914400" cy="914400"/>
          </a:xfrm>
          <a:prstGeom prst="round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来电</a:t>
            </a:r>
          </a:p>
          <a:p>
            <a:pPr algn="ctr"/>
            <a:r>
              <a:rPr sz="15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有喜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54480"/>
            <a:ext cx="8686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>
                <a:solidFill>
                  <a:srgbClr val="1C1917"/>
                </a:solidFill>
                <a:latin typeface="KaiTi"/>
                <a:ea typeface="KaiTi"/>
                <a:cs typeface="KaiTi"/>
              </a:rPr>
              <a:t>别人数字化货与交易，</a:t>
            </a:r>
          </a:p>
          <a:p>
            <a:pPr algn="l">
              <a:spcAft>
                <a:spcPts val="1000"/>
              </a:spcAft>
            </a:pPr>
            <a:r>
              <a:rPr sz="34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我们数字化人与货之间的情绪连接。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233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C2410C"/>
                </a:solidFill>
                <a:latin typeface="KaiTi"/>
                <a:ea typeface="KaiTi"/>
                <a:cs typeface="KaiTi"/>
              </a:rPr>
              <a:t>谢谢 · 期待共建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A8178"/>
                </a:solidFill>
                <a:latin typeface="Microsoft YaHei"/>
                <a:ea typeface="Microsoft YaHei"/>
                <a:cs typeface="Microsoft YaHei"/>
              </a:rPr>
              <a:t>联系方式：____________   |   项目：来电有喜   |   微信小程序 · 本地生活情绪经济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