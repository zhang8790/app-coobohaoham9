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554480"/>
            <a:ext cx="1737360" cy="1737360"/>
          </a:xfrm>
          <a:prstGeom prst="ellipse">
            <a:avLst/>
          </a:prstGeom>
          <a:solidFill>
            <a:srgbClr val="D948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84124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58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来电有喜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154680"/>
            <a:ext cx="8595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26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让每一次「吃」都安心 · 合身 · 有温度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069080"/>
            <a:ext cx="84124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情绪驱动  ·  本地食养  ·  配料安全扫描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617720"/>
            <a:ext cx="8412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微信小程序电商平台  |  Taro + React + Supabase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5806440"/>
            <a:ext cx="8229600" cy="18288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943600"/>
            <a:ext cx="8412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2026 项目全览  ·  张林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WHY · 我们为什么出发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食物，从来不只是食物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现代人面对食物，有三重隐性的焦虑。来电有喜相信：好的食物关系，是被看见、被理解、被守护。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3456432" cy="228600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78892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953511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配料表如天书，添加剂代号背后藏着什么，普通人无从判断。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514600"/>
            <a:ext cx="3456432" cy="228600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278892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吃不对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474720"/>
            <a:ext cx="2953511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同样的食品，对别人是补，对自己可能是负担——体质被长期忽视。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514600"/>
            <a:ext cx="3456432" cy="228600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93608" y="278892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不安心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2953511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食品安全事件频发，信任在一次次犹豫中消耗殆尽。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029200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3A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1042416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我们的信念：技术不该制造更多焦虑，而应把本属于每个人的「食养常识」重新还到手里——让选择，重新变得简单而笃定。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WHAT · 我们是什么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来电有喜：把食养常识，还给普通人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881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一个用技术把「配料安全 · 个性食养 · 情绪陪伴」融为一体的微信小程序——不卖焦虑，只做你身边的食养守护者。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配料安全扫描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20440"/>
            <a:ext cx="2907791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拍照 / 输入配料表，即刻读懂安全等级与过敏原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46888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E4ECE3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74320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个性化食养推荐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520440"/>
            <a:ext cx="2907791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结合你的健康画像，给出「对您而言」的结论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46888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74320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情绪匹配导购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520440"/>
            <a:ext cx="2907791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你今天的心情，值得被好好招待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MARKET · 时代背景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站在三个同时上升的风口上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926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养生零食赛道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38528"/>
            <a:ext cx="2377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7514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38528"/>
            <a:ext cx="50292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亿元  ·  2026 年保守预计，逆势增长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15184"/>
            <a:ext cx="10424160" cy="54864"/>
          </a:xfrm>
          <a:prstGeom prst="round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907791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2926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药食同源市场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17520"/>
            <a:ext cx="2377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3700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017520"/>
            <a:ext cx="50292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亿元  ·  2025 年规模已突破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94176"/>
            <a:ext cx="6462979" cy="54864"/>
          </a:xfrm>
          <a:prstGeom prst="round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986783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96511"/>
            <a:ext cx="2926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情绪健康食品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96511"/>
            <a:ext cx="2377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37%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96511"/>
            <a:ext cx="50292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全球消费者希望零食改善心理健康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773168"/>
            <a:ext cx="4690872" cy="54864"/>
          </a:xfrm>
          <a:prstGeom prst="round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5065775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75503"/>
            <a:ext cx="2926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食品安全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175503"/>
            <a:ext cx="2377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3 亿+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175503"/>
            <a:ext cx="50292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全球用户，中国占 40% 份额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852159"/>
            <a:ext cx="5212080" cy="54864"/>
          </a:xfrm>
          <a:prstGeom prst="round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方向是对的：三大趋势叠加，食品电商当然有市场。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PAIN · 我们要解决什么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现代人的三重食品困境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456432" cy="310896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03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743200"/>
            <a:ext cx="288950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22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看不懂配料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520440"/>
            <a:ext cx="2889503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E 编号、添加剂、营养成分——决策入口就被卡住。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456432" cy="310896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7" y="2103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743200"/>
            <a:ext cx="288950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22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吃不对体质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520440"/>
            <a:ext cx="2889503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通用推荐千人一面，忽视过敏、慢病与体质差异。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828800"/>
            <a:ext cx="3456432" cy="310896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39328" y="2103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信任差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743200"/>
            <a:ext cx="288950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22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买不到安心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520440"/>
            <a:ext cx="2889503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配料隐患与夸大宣传，让「放心买」成为奢侈。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12080"/>
            <a:ext cx="108813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这三道差，本质是「人与食物之间的理解断层」。来电有喜要做的，就是用技术把断层填平。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HOW · 解决方案总览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一个闭环：从「扫描」到「懂你」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2505456" cy="23774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331720"/>
            <a:ext cx="2048256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· 健康画像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002536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体质 / 过敏 / 慢病 / 目标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结构化建模</a:t>
            </a:r>
          </a:p>
        </p:txBody>
      </p:sp>
      <p:sp>
        <p:nvSpPr>
          <p:cNvPr id="8" name="Chevron 7"/>
          <p:cNvSpPr/>
          <p:nvPr/>
        </p:nvSpPr>
        <p:spPr>
          <a:xfrm>
            <a:off x="3145536" y="3063240"/>
            <a:ext cx="310896" cy="45720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0712" y="2103120"/>
            <a:ext cx="2505456" cy="23774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39312" y="2331720"/>
            <a:ext cx="2048256" cy="54864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· 感知引擎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3063240"/>
            <a:ext cx="2002536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analyzeForProfile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安全·过敏·禁忌·适配</a:t>
            </a:r>
          </a:p>
        </p:txBody>
      </p:sp>
      <p:sp>
        <p:nvSpPr>
          <p:cNvPr id="12" name="Chevron 11"/>
          <p:cNvSpPr/>
          <p:nvPr/>
        </p:nvSpPr>
        <p:spPr>
          <a:xfrm>
            <a:off x="5897880" y="3063240"/>
            <a:ext cx="310896" cy="45720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2103120"/>
            <a:ext cx="2505456" cy="23774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91656" y="2331720"/>
            <a:ext cx="2048256" cy="54864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· 个性推荐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2002536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对您而言的安全好物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闭环到下单</a:t>
            </a:r>
          </a:p>
        </p:txBody>
      </p:sp>
      <p:sp>
        <p:nvSpPr>
          <p:cNvPr id="16" name="Chevron 15"/>
          <p:cNvSpPr/>
          <p:nvPr/>
        </p:nvSpPr>
        <p:spPr>
          <a:xfrm>
            <a:off x="8650224" y="3063240"/>
            <a:ext cx="310896" cy="45720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2103120"/>
            <a:ext cx="2505456" cy="23774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331720"/>
            <a:ext cx="2048256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· 可视·学习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063240"/>
            <a:ext cx="2002536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画像看板 · 月度报告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行为反推画像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00600"/>
            <a:ext cx="10881360" cy="1143000"/>
          </a:xfrm>
          <a:prstGeom prst="roundRect">
            <a:avLst>
              <a:gd name="adj" fmla="val 10000"/>
            </a:avLst>
          </a:prstGeom>
          <a:solidFill>
            <a:srgbClr val="3A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10424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闭环的核心思想：每一次扫描都让系统更懂你，每一次推荐都更贴合你的身体——数据不再是冷记录，而是「被照顾」的证据。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CAPABILITY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配料安全扫描：扫一下，就知道能不能吃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「还不懂配料表？扫一下就知道安不安全、该吃什么。」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505456" cy="54864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文本输入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2148840"/>
            <a:ext cx="2505456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拍照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2148840"/>
            <a:ext cx="2505456" cy="54864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扫条码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148840"/>
            <a:ext cx="2505456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历史反推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10881360" cy="182880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424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综合安全报告 · ComprehensiveSafetyReport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104241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添加剂安全等级：逐项解析，标明风险层级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过敏原强预警：扫描项 ∩ 你的过敏清单，红色高危提示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营养与适宜人群：钠糖脂肪一目了然，适配体质标签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合规护栏：全量文案经 shieldCopy() 过滤 + 强制免责声明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CAPABILITY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个性化食养：同一张表，不同体质不同结论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212080" cy="4023360"/>
          </a:xfrm>
          <a:prstGeom prst="roundRect">
            <a:avLst>
              <a:gd name="adj" fmla="val 10000"/>
            </a:avLst>
          </a:prstGeom>
          <a:solidFill>
            <a:srgbClr val="E4ECE3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结构化健康画像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548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生命阶段：儿童 / 成人 / 孕哺 / 老年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过敏清单：11 类致敏原多选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慢病人群：高血压 / 高血糖 / 肠胃虚弱…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身体状态：宫寒 / 易上火 / 脾胃虚寒…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健康目标：控糖 / 护胃 / 助眠 / 减脂…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「对您而言」的引擎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50292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输入配料 + 你的画像 → 输出: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安全等级 · 过敏命中 · 体质禁忌 · 食养适配分 · 一句话点评。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49039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5029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「您体寒，本品温热、温中散寒，正相宜」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「您高血压，钠偏高，建议少食用」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——同一包零食，妈妈和女儿看到的是不同结论。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CAPABILITY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情绪匹配导购：你今天的心情，值得被招待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这是项目最大的差异化资产——国内几乎没有成熟产品形态的「心情→食物」匹配。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2505456" cy="10972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2139696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输入心情</a:t>
            </a:r>
          </a:p>
        </p:txBody>
      </p:sp>
      <p:sp>
        <p:nvSpPr>
          <p:cNvPr id="8" name="Chevron 7"/>
          <p:cNvSpPr/>
          <p:nvPr/>
        </p:nvSpPr>
        <p:spPr>
          <a:xfrm>
            <a:off x="3145536" y="2670048"/>
            <a:ext cx="292608" cy="36576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0712" y="2286000"/>
            <a:ext cx="2505456" cy="10972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139696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识别情绪类别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2670048"/>
            <a:ext cx="292608" cy="36576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2286000"/>
            <a:ext cx="2505456" cy="10972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286000"/>
            <a:ext cx="2139696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匹配情绪食品</a:t>
            </a:r>
          </a:p>
        </p:txBody>
      </p:sp>
      <p:sp>
        <p:nvSpPr>
          <p:cNvPr id="14" name="Chevron 13"/>
          <p:cNvSpPr/>
          <p:nvPr/>
        </p:nvSpPr>
        <p:spPr>
          <a:xfrm>
            <a:off x="8650224" y="2670048"/>
            <a:ext cx="292608" cy="36576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5400" y="2286000"/>
            <a:ext cx="2505456" cy="10972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286000"/>
            <a:ext cx="2139696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温暖陪伴下单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49039"/>
            <a:ext cx="10881360" cy="1920240"/>
          </a:xfrm>
          <a:prstGeom prst="roundRect">
            <a:avLst>
              <a:gd name="adj" fmla="val 10000"/>
            </a:avLst>
          </a:prstGeom>
          <a:solidFill>
            <a:srgbClr val="3A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424160" cy="1691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关键判断（来自市场验证）：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情绪匹配不该是「先停下来输入心情再购物」的前台摩擦，而是后台推荐的一个维度——让用户在日常浏览中，自然被「懂他此刻状态」的食物接住。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概念独特，但路径要顺：把差异化做成「润物细无声」，而非「刻意为之」。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TECH ·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技术底座：扎实、可扩展、可运维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02996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953511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Taro 跨端（微信小程序 + H5）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React 18 + Zustand + TailwindCSS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2880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0288" y="202996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97480"/>
            <a:ext cx="2953511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Supabase：PostgreSQL + RLS 行级安全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Edge Functions 云函数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82880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93608" y="202996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97480"/>
            <a:ext cx="2953511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25+ 个 Edge Functions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支付 · 分佣 · 退款 · OCR · 红包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4048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404164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2953511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150+ 迁移文件（1~134）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结构演进完整可追溯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84048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404164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09160"/>
            <a:ext cx="2953511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Vite + React + React Router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admin-web 完整 PC 后台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约 3 周 / 74 次提交的开发密度——架构清晰、产出扎实，是项目最硬的底气。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BUSINESS · 商业模型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商业模型：金豆流通 + 两级推荐 + 商家结算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金豆货币体系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2907791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1:1 元，消费抵扣 + 确权返利；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单位即元，杜绝资损。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2880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210312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两级推广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880360"/>
            <a:ext cx="2907791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好友（一级）/ 粉丝（二级）；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每单幂等只发一次，平台保底让利 ×10%。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82880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10312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商家结算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880360"/>
            <a:ext cx="2907791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自营 + 入驻；货款由微信直接打款；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分佣闭环、对账透明。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17720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3A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27448"/>
            <a:ext cx="1042416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「边花边赚」：用户在消费中确权，推广在信任中生长，平台在让利中扩张——一套让三方都正向循环的食养经济体。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COMPLIANCE · 合规红线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合规护栏：食养非医疗，是最高优先级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456432" cy="274320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shieldCopy()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2907791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违禁词黑名单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（治疗/治愈/降血压…）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运行时替换 + 审核双保险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28800"/>
            <a:ext cx="3456432" cy="274320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210312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强制免责声明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880360"/>
            <a:ext cx="2907791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每张分析 / 推荐卡必附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「食养参考，不替代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专业医疗诊断」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828800"/>
            <a:ext cx="3456432" cy="274320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103120"/>
            <a:ext cx="2944368" cy="54864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数据合规 PIPL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880360"/>
            <a:ext cx="2907791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行为分析总闸 + 健康数据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最小化 + 默认不跨店聚合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可导出 / 可删除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892040"/>
            <a:ext cx="108813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红线之上，才有增长。合规不是成本，而是食养产品最长的护城河。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VALIDATION · 灰度判断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市场判断：有市场，但要会做减法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212080" cy="2926080"/>
          </a:xfrm>
          <a:prstGeom prst="roundRect">
            <a:avLst>
              <a:gd name="adj" fmla="val 10000"/>
            </a:avLst>
          </a:prstGeom>
          <a:solidFill>
            <a:srgbClr val="E4ECE3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✓ 三个「有市场」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7548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0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赛道对：情绪健康 + 养生零食 + 食安，三趋势叠加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0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代码强：74 提交 / 150+ 迁移，架构清晰扎实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2F5D3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0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概念成立：情绪匹配导购国内几乎空白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486400" cy="292608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✗ 三个「难点」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06040"/>
            <a:ext cx="50292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0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概念差异 ≠ 用户行为差异（前台输入心情有摩擦）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0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太全能太散：8 大模块，早期推不动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0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冷启动鸡生蛋：标签 / 数据库 / 入驻皆需投入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8348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3A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42416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建议：MVP 单城市 · 自营精选 · 入口做窄。  当前形态市场概率 ≈ 40%  →  重构形态 60–70%。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D9482B"/>
                </a:solidFill>
                <a:latin typeface="Microsoft YaHei"/>
                <a:ea typeface="Microsoft YaHei"/>
                <a:cs typeface="Microsoft YaHei"/>
              </a:rPr>
              <a:t>ROADMAP · 落地路线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30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落地路线：先打透一个点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51560" cy="7772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456432" cy="2834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D94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2286000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1–2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63240"/>
            <a:ext cx="2907791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画像表 → 建档表单 → shieldCopy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food-scan 画像感知 → 推荐画像化</a:t>
            </a:r>
          </a:p>
        </p:txBody>
      </p:sp>
      <p:sp>
        <p:nvSpPr>
          <p:cNvPr id="9" name="Chevron 8"/>
          <p:cNvSpPr/>
          <p:nvPr/>
        </p:nvSpPr>
        <p:spPr>
          <a:xfrm>
            <a:off x="4096512" y="3108960"/>
            <a:ext cx="292608" cy="41148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1688" y="1920240"/>
            <a:ext cx="3456432" cy="2834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2F5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286000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063240"/>
            <a:ext cx="2907791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首页 / 详情画像化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扫描历史落库</a:t>
            </a:r>
          </a:p>
        </p:txBody>
      </p:sp>
      <p:sp>
        <p:nvSpPr>
          <p:cNvPr id="14" name="Chevron 13"/>
          <p:cNvSpPr/>
          <p:nvPr/>
        </p:nvSpPr>
        <p:spPr>
          <a:xfrm>
            <a:off x="7799831" y="3108960"/>
            <a:ext cx="292608" cy="411480"/>
          </a:xfrm>
          <a:prstGeom prst="chevron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65008" y="1920240"/>
            <a:ext cx="3456432" cy="2834640"/>
          </a:xfrm>
          <a:prstGeom prst="roundRect">
            <a:avLst>
              <a:gd name="adj" fmla="val 10000"/>
            </a:avLst>
          </a:prstGeom>
          <a:solidFill>
            <a:srgbClr val="EFE6D4"/>
          </a:solidFill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93808" y="2286000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远期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063240"/>
            <a:ext cx="2907791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健康画像看板 + 月度报告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0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扫描行为反推画像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29200"/>
            <a:ext cx="108813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1">
                <a:solidFill>
                  <a:srgbClr val="2B2620"/>
                </a:solidFill>
                <a:latin typeface="Microsoft YaHei"/>
                <a:ea typeface="Microsoft YaHei"/>
                <a:cs typeface="Microsoft YaHei"/>
              </a:rPr>
              <a:t>战略转向：从一个功能点打透，而不是从十个功能点一起打。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CLOSING · 价值宣言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我们卖的不是商品，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是一种更安心的生活方式。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0">
                <a:solidFill>
                  <a:srgbClr val="E8E0D0"/>
                </a:solidFill>
                <a:latin typeface="Microsoft YaHei"/>
                <a:ea typeface="Microsoft YaHei"/>
                <a:cs typeface="Microsoft YaHei"/>
              </a:rPr>
              <a:t>来电有喜，把「吃」这件每天都发生的小事，重新变得可被理解、可被信任、可被照顾。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0">
                <a:solidFill>
                  <a:srgbClr val="E8E0D0"/>
                </a:solidFill>
                <a:latin typeface="Microsoft YaHei"/>
                <a:ea typeface="Microsoft YaHei"/>
                <a:cs typeface="Microsoft YaHei"/>
              </a:rPr>
              <a:t>从卖货，到陪你吃好——这是技术该有的温度。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94960"/>
            <a:ext cx="10332720" cy="731520"/>
          </a:xfrm>
          <a:prstGeom prst="round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 · MVP 单城灰度，用真实扫描与下单验证闭环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7A6F60"/>
                </a:solidFill>
                <a:latin typeface="Microsoft YaHei"/>
                <a:ea typeface="Microsoft YaHei"/>
                <a:cs typeface="Microsoft YaHei"/>
              </a:rPr>
              <a:t>来电有喜  ·  2026 项目全览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